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BDF8"/>
                </a:solidFill>
              </a:rPr>
              <a:t>TRABAJO DE GRADO · UNICOLMAYOR ·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</a:rPr>
              <a:t>OBRahUB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Sistema operativo de construcción con IA multiagente — del lenguaje natural a la licencia de construcción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Diego Orlando Pineda Escobar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Cratere S.A.S. · Corporación Universitaria Colmayor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La obra colombiana se gesta en Excel y WhatsApp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73736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</a:rPr>
              <a:t>Hoy (fragmentado)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Presupuestos en hojas de cálculo que se desvían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Bitácora en papel o fotos sueltas de WhatsApp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Planos y licencias: semanas y alto costo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Cero trazabilidad para interventoría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Procore/ACC: USD 100-410 por usuario, en inglés, sin NSR-10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Costo del desorden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$91,78 billones facturó el sector en 2025 — productividad muy por debajo del potencial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12.000 MIPYME constructoras + 180.000 independientes sin herramienta integral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La licencia de construcción es el cuello de botella del formalismo y de la VIS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Un sistema operativo de la construcción, en español y con norma colombiana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476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Documentos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26517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Visores IFC 3D y DXF nativos,ZIP import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476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035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Diseño IA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26517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Estudio multiagente → lámina de licencia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9476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0068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Costos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Presupuestos APU con precios vivos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507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60020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Seguimiento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" y="4754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Gantt + 4D vinculado a elementos BIM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3484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40507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📔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30352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Bitácora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663440" y="4754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Diaria digital con evidencia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05079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006840" y="4114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Control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66760" y="4754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Curva S, SPI/CPI, informes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</a:rPr>
              <a:t>EL APORTE CENTRAL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El estudio de diseño: 7 agentes, 1 profesional al mando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470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847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Urbanista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240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POT, clima, vientos, materiales de la zona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470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66360" y="1847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Arquitecto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2240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Planta + memoria de diseño justificada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8470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👷🏗️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69680" y="1847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Constructor ∥ Ing. Civil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69680" y="22402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Materiales locales · sistema NSR-10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2644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264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Adaptación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6576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Redibuja con retícula del ingeniero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1546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2644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⚡💧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166360" y="3264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Eléctrico ∥ Hidro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66360" y="36576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RETIE · RAS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31546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32644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869680" y="3264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Interiores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69680" y="36576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Acabados y equipos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70916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0F2A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892040"/>
            <a:ext cx="10241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0B981"/>
                </a:solidFill>
              </a:rPr>
              <a:t>El profesional (arquitecto/ingeniero/constructor) revisa, sugiere y el arquitecto redibuja — con registro de cambios. La responsabilidad intelectual sigue siendo humana.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</a:rPr>
              <a:t>CÓMO ELIMINAMOS LA ALUCINACIÓN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«La IA piensa, los motores dibujan»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Lenguaje natural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"Casa 2 pisos, 3 alcobas, 85 m², Bogotá"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10128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93592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76472" y="2834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Agentes → JSON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76472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Esquema estricto sanitizado (clamps, cm)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200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55664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38544" y="2834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Puertas de verificación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38544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Mínimos Neufert/NTC · NSR-10 A.6 · RETIE · RAS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34272" y="29260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17736" y="20116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54896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🖨️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500616" y="2834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Motores determinísticos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00616" y="338328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SVG · DXF R12 por capas · expediente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8BDF8"/>
                </a:solidFill>
              </a:rPr>
              <a:t>Misma entrada → mismo byte de salida. 28/28 pruebas del motor DXF en verde, determinismo verificado.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</a:rPr>
              <a:t>EL ENTREGABLE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La lámina completa de curaduría, en minutos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0710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🗂️ LÁMINA GENERADA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Planta(s) por nivel con ejes estructurales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Cortes A-A' y B-B' con marcas de nivel ▲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4 fachadas: parapeto, doble marco, puertas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Cuadro de áreas con totales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Poché 45° · flecha norte · escala gráfica · cajetín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</a:rPr>
              <a:t>Convenciones Ching + dimensiones Neufert/Plazola/Panero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0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1A0F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EXPEDIENTE (documento)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Memoria de diseño (viento, luz, orientación)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Memoria estructural NSR-10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Memorias RETIE y RAS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Materiales, método y acabados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Checklist de radicación: F.U.N., CTL, suelos, firmas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Descargable como DXF por capas (AutoCAD/LibreCAD) — verificado en el visor propio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</a:rPr>
              <a:t>EXPERIENCIA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El usuario VE a los agentes trabajar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698480" cy="4023360"/>
          </a:xfrm>
          <a:prstGeom prst="roundRect">
            <a:avLst>
              <a:gd name="adj" fmla="val 1818"/>
            </a:avLst>
          </a:prstGeom>
          <a:solidFill>
            <a:srgbClr val="050B14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57400"/>
            <a:ext cx="10058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2E8F0"/>
                </a:solidFill>
              </a:rPr>
              <a:t>📍 📚 Revisando marco del POT, clima y vientos…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2E8F0"/>
                </a:solidFill>
              </a:rPr>
              <a:t>🏛️ 📐 Dimensionando con la tabla Neufert/Plazola…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8BDF8"/>
                </a:solidFill>
              </a:rPr>
              <a:t>⚡ GPT-4.1-mini está pensando…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4D399"/>
                </a:solidFill>
              </a:rPr>
              <a:t>▎{ "name": "Habitación 2", "x": 2.85, ▊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59E0B"/>
                </a:solidFill>
              </a:rPr>
              <a:t>⚠ Gemini saturado → MiniMax entra (failover narrado)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2E8F0"/>
                </a:solidFill>
              </a:rPr>
              <a:t>🛡️ Puerta de verificación 1: 7 observaciones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0B981"/>
                </a:solidFill>
              </a:rPr>
              <a:t>✏️ 9 cambio(s) aplicado(s) — planta redibujada con tus sugerencias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Streaming token a token + reintentos automáticos: cero "modelos saturados, intente de nuevo"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</a:rPr>
              <a:t>MERCADO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Cuatro segmentos, una hoja de ruta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9019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Constructoras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042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Top-10: $16,6 B en 2025 (Metro Línea 1, Marval, Amarilo…). MIPYME Camacol = ICP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08760" y="3108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SaaS por obra: 150-800k COP/mes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874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9019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Gubernamentales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230428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MinTIC · MinVivienda · ANI · INVÍAS · Findeter · MinEducación · Alcaldías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49440" y="3108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</a:rPr>
              <a:t>SECOP II: 50-200M COP/año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023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0507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Privadas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4531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Uniandes · Javeriana · EAFIT · clínicas · corporativo — todos en expansión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508760" y="5257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</a:rPr>
              <a:t>Licencia por obra: 20-60M COP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88620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4023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👷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49440" y="40507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Independientes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445312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180.000 multi-proyecto (obra gris, remodeladores, interventores…)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49440" y="5257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Freemium → Pro 49-99k/mes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</a:rPr>
              <a:t>COMPETENCIA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Por qué no nos aplastan los gigantes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Procore / ACC: USD 375-410 por usuario/mes — inglés, sin NSR-10, sin APU local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Apps locales puntuales: una sola función, sin circuito completo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Excel: gratis… hasta la primera desviación del 15%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0698480" cy="2103120"/>
          </a:xfrm>
          <a:prstGeom prst="roundRect">
            <a:avLst>
              <a:gd name="adj" fmla="val 3478"/>
            </a:avLst>
          </a:prstGeom>
          <a:solidFill>
            <a:srgbClr val="0F2A1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31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</a:rPr>
              <a:t>Foso defensivo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389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Barrera normativa colombiana difícil de replicar desde el exterior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Base de precios APU vivos alimentada por la comunidad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Costo serverless ~10× menor: podemos cobrar 1/10 y seguir con margen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</a:rPr>
              <a:t>MODELO DE NEGOCIO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Cómo se hace dinero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10 / 15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Segmento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Producto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38BDF8"/>
                          </a:solidFill>
                        </a:rPr>
                        <a:t>Precio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Independientes (volumen)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Freemium → Pro mensual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</a:rPr>
                        <a:t>COP 49-99k/mes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MIPYME constructoras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SaaS por obra activa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</a:rPr>
                        <a:t>COP 150-300k/mes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Constructoras grandes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Plan Obra + interventoría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</a:rPr>
                        <a:t>COP 400-800k/mes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Instituciones privadas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Licencia por proyecto / académica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</a:rPr>
                        <a:t>COP 20-60M por obra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1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Sector público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2E8F0"/>
                          </a:solidFill>
                        </a:rPr>
                        <a:t>Convenio anual SECOP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0B981"/>
                          </a:solidFill>
                        </a:rPr>
                        <a:t>COP 50-200M/año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Meta 24 meses: COP 30-50M MRR (fase 2) → contratos anuales 200M+ (fase 3)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</a:rPr>
              <a:t>PRODUCTO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No es un mockup: está en producción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11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Desplegado en Vercel con integración continua — cada función verificada E2E en navegador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Generación real verificada: "VIS 2 alcobas 52 m² Manizales" → lámina completa en minutos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Visor IFC: selección táctil con halo, simulación 4D, extracción de cantidades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Router LLM: GPT-4.1-mini primario + failover gratuito narrado en vivo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Arquitectura serverless: Next.js · Supabase · Postgres + Storage · Vercel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0698480" cy="1005840"/>
          </a:xfrm>
          <a:prstGeom prst="roundRect">
            <a:avLst>
              <a:gd name="adj" fmla="val 7273"/>
            </a:avLst>
          </a:prstGeom>
          <a:solidFill>
            <a:srgbClr val="111B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obra-hub-cratere.vercel.app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 la lámina al ciclo de vida completo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12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892808"/>
            <a:ext cx="320040" cy="320040"/>
          </a:xfrm>
          <a:prstGeom prst="circl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783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 Fase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1783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Plataforma núcleo: visores, APU, Gantt+4D, bitácora, control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761488"/>
            <a:ext cx="320040" cy="320040"/>
          </a:xfrm>
          <a:prstGeom prst="circl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✓ Fase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651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Estudio multiagente + lámina de licencia DXF + expediente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3630168"/>
            <a:ext cx="320040" cy="320040"/>
          </a:xfrm>
          <a:prstGeom prst="circl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3520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→ Fase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520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Modelo IFC 3D desde el mismo JSON (BIM verificable en visor propio)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498848"/>
            <a:ext cx="320040" cy="320040"/>
          </a:xfrm>
          <a:prstGeom prst="circl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4389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Fase 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08960" y="4389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Pasaporte de materiales y vida útil (sostenibilidad, economía circular)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5367528"/>
            <a:ext cx="320040" cy="320040"/>
          </a:xfrm>
          <a:prstGeom prst="circle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5257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Fase 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08960" y="5257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Canal estatal (SECOP) y desmonte/vida útil como plataforma pública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</a:rPr>
              <a:t>IMPACTO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Impacto: no solo software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13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Democratiza el paquete de licencia: la VIS y los municipios intermedios acceden a diseño con estándares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Formaliza la gestión de obra con evidencia auditable (transparencia pública)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El profesional mantiene la responsabilidad intelectual: la IA asiste, no firma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Educación: licencia académica gratuita para facultades de ingeniería y arquitectura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Origen colombiano: soberanía tecnológica en un mercado dominado por extranjeros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82F6"/>
                </a:solidFill>
              </a:rPr>
              <a:t>CIERRE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OBRahUB · Sustentación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14 / 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Es posible unificar diseño-costo-programa-control-licencia en una plataforma serverless de bajo costo con norma colombiana.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«La IA piensa, los motores dibujan» elimina la alucinación geométrica: geometría determinística, reproducible y auditable.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El bucle de revisión humana es la clave de la adopción profesional y del marco de responsabilidad.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El mercado (4 segmentos, top-10 identificado por segmento) valida un modelo multimodal de ingresos.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</a:rPr>
              <a:t>Línea futura inmediata: IFC 3D desde el mismo formato intermedio y pilotos con curadurías.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Gracias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</a:rPr>
              <a:t>¿Preguntas? — Demo en vivo disponible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Diego Orlando Pineda Escobar · Cratere S.A.S. · constructoracratere@gmail.com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Cratere S.A.S. · ObraHub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OBRahUB — Sustentación de grado</dc:title>
  <dc:subject>PptxGenJS Presentation</dc:subject>
  <dc:creator>Diego Orlando Pineda Escobar</dc:creator>
  <cp:lastModifiedBy>Diego Orlando Pineda Escobar</cp:lastModifiedBy>
  <cp:revision>1</cp:revision>
  <dcterms:created xsi:type="dcterms:W3CDTF">2026-09-09T13:47:33Z</dcterms:created>
  <dcterms:modified xsi:type="dcterms:W3CDTF">2026-09-09T13:47:33Z</dcterms:modified>
</cp:coreProperties>
</file>